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1" r:id="rId2"/>
    <p:sldId id="262" r:id="rId3"/>
    <p:sldId id="263" r:id="rId4"/>
    <p:sldId id="264" r:id="rId5"/>
    <p:sldId id="265" r:id="rId6"/>
    <p:sldId id="279" r:id="rId7"/>
    <p:sldId id="268" r:id="rId8"/>
    <p:sldId id="271" r:id="rId9"/>
    <p:sldId id="273" r:id="rId10"/>
    <p:sldId id="270" r:id="rId11"/>
    <p:sldId id="280" r:id="rId12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54" y="5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A90EF839-8C2F-1635-BA9E-18E16C384912}" type="slidenum"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BF6433E8-611F-BD03-8F63-CEE1C3799AAE}" type="slidenum"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17D2C792-5871-848D-AF35-371AFE72CB4F}" type="slidenum"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83899ED4-F20B-0701-D13A-3B951D3B50DF}" type="slidenum"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7B10654A-DB5D-4FA2-BFBA-DA32D08A6797}" type="slidenum"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 bwMode="auto"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 bwMode="auto"/>
        <p:txBody>
          <a:bodyPr/>
          <a:lstStyle/>
          <a:p>
            <a:fld id="{2366C42D-DEF1-692D-EB23-56912B18EA73}" type="slidenum"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 noEditPoints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 noEditPoints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3109929" name="Номер слайда 5"/>
          <p:cNvSpPr>
            <a:spLocks noGrp="1" noEditPoints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4155163" name="Заголовок 1"/>
          <p:cNvSpPr>
            <a:spLocks noGrp="1" noEditPoints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560271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6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0F93E5B5-AFDF-4C16-BD1E-5010330699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1201" y="2000250"/>
            <a:ext cx="7429500" cy="3011425"/>
          </a:xfrm>
        </p:spPr>
        <p:txBody>
          <a:bodyPr/>
          <a:lstStyle/>
          <a:p>
            <a:endParaRPr lang="ru-RU" dirty="0"/>
          </a:p>
          <a:p>
            <a:r>
              <a:rPr lang="ru-RU" dirty="0"/>
              <a:t>Мы не успели сделать презентацию(</a:t>
            </a:r>
            <a:br>
              <a:rPr lang="ru-RU" dirty="0"/>
            </a:br>
            <a:r>
              <a:rPr lang="ru-RU" dirty="0"/>
              <a:t>	</a:t>
            </a:r>
          </a:p>
          <a:p>
            <a:r>
              <a:rPr lang="ru-RU" dirty="0"/>
              <a:t>Тут только пояснения по обучению модели для </a:t>
            </a:r>
          </a:p>
          <a:p>
            <a:r>
              <a:rPr lang="ru-RU" dirty="0"/>
              <a:t>распознавания техники</a:t>
            </a:r>
          </a:p>
          <a:p>
            <a:endParaRPr lang="ru-RU" dirty="0"/>
          </a:p>
          <a:p>
            <a:r>
              <a:rPr lang="ru-RU" dirty="0"/>
              <a:t>Остальное на </a:t>
            </a:r>
            <a:r>
              <a:rPr lang="ru-RU" dirty="0" err="1"/>
              <a:t>гитхабе</a:t>
            </a:r>
            <a:r>
              <a:rPr lang="ru-RU" dirty="0"/>
              <a:t> в </a:t>
            </a:r>
            <a:r>
              <a:rPr lang="en-US" dirty="0"/>
              <a:t>Readme </a:t>
            </a:r>
            <a:r>
              <a:rPr lang="ru-RU" dirty="0"/>
              <a:t>и файле </a:t>
            </a:r>
            <a:r>
              <a:rPr lang="en-US" dirty="0" err="1"/>
              <a:t>exel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4114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en-US" sz="4800" dirty="0"/>
              <a:t>Disordered Rats</a:t>
            </a:r>
            <a:endParaRPr lang="ru-RU" sz="4800" dirty="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/>
              <a:t>Задача 7. </a:t>
            </a:r>
            <a:r>
              <a:rPr lang="ru-RU" b="0" i="0" dirty="0">
                <a:solidFill>
                  <a:srgbClr val="FFFFFF"/>
                </a:solidFill>
                <a:effectLst/>
                <a:latin typeface="TTFirs"/>
              </a:rPr>
              <a:t>Интеллектуальная система мониторинга строительной площадки</a:t>
            </a:r>
            <a:endParaRPr lang="ru-RU" dirty="0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6" name="Image 0" descr=" ">
            <a:extLst>
              <a:ext uri="{FF2B5EF4-FFF2-40B4-BE49-F238E27FC236}">
                <a16:creationId xmlns:a16="http://schemas.microsoft.com/office/drawing/2014/main" id="{EC5D85E6-3FCA-4B06-9156-FBC0BD15EC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1585" b="1585"/>
          <a:stretch/>
        </p:blipFill>
        <p:spPr bwMode="auto">
          <a:xfrm>
            <a:off x="304800" y="330200"/>
            <a:ext cx="5194300" cy="1082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Вострокнутов Тимур Владимирович, ПМФ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en-US" b="1" dirty="0">
                <a:solidFill>
                  <a:schemeClr val="tx1"/>
                </a:solidFill>
              </a:rPr>
              <a:t>2</a:t>
            </a:r>
            <a:r>
              <a:rPr lang="ru-RU" dirty="0">
                <a:solidFill>
                  <a:schemeClr val="tx1"/>
                </a:solidFill>
              </a:rPr>
              <a:t>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Московская Область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</a:t>
            </a:r>
            <a:br>
              <a:rPr lang="ru-RU" sz="2400" dirty="0">
                <a:solidFill>
                  <a:schemeClr val="accent5"/>
                </a:solidFill>
                <a:latin typeface="Montserrat"/>
              </a:rPr>
            </a:br>
            <a:r>
              <a:rPr lang="en-US" sz="2400" dirty="0">
                <a:solidFill>
                  <a:schemeClr val="accent5"/>
                </a:solidFill>
                <a:latin typeface="Montserrat"/>
              </a:rPr>
              <a:t>“Disordered Rats”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В чем суть вашего решения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3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@JrMinisort</a:t>
            </a:r>
            <a:endParaRPr lang="ru-RU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89180225166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МИФИ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Ярослав Куприянов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42001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</a:t>
            </a:r>
            <a:r>
              <a:rPr lang="en-US" dirty="0">
                <a:latin typeface="Montserrat"/>
              </a:rPr>
              <a:t>“Disordered Rats”</a:t>
            </a:r>
            <a:endParaRPr lang="ru-RU" dirty="0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@Tim_MIPT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89891220324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МФТИ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Тимур Вострокнутов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>
                <a:solidFill>
                  <a:schemeClr val="tx1"/>
                </a:solidFill>
              </a:rPr>
              <a:t> </a:t>
            </a:r>
            <a:br>
              <a:rPr lang="en-US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которые повлияли на ход вашего участия в хакатоне.</a:t>
            </a:r>
            <a:endParaRPr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3891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 noEditPoints="1"/>
          </p:cNvSpPr>
          <p:nvPr>
            <p:ph type="sldNum" sz="quarter" idx="4"/>
          </p:nvPr>
        </p:nvSpPr>
        <p:spPr bwMode="auto"/>
        <p:txBody>
          <a:bodyPr/>
          <a:lstStyle/>
          <a:p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 noEditPoints="1"/>
          </p:cNvSpPr>
          <p:nvPr>
            <p:ph type="body" sz="quarter" idx="26"/>
          </p:nvPr>
        </p:nvSpPr>
        <p:spPr bwMode="auto">
          <a:xfrm>
            <a:off x="616304" y="3286814"/>
            <a:ext cx="3264113" cy="306324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0053"/>
                </a:solidFill>
              </a:rPr>
              <a:t>Данные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7 классов: экскаватор, кран, малый кран, сваи, бетономешалка, бульдозер, каток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459 размеченных объектов в обучающей выборке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Задача — сегментация экземпляров: класс, рамка и маска</a:t>
            </a:r>
          </a:p>
        </p:txBody>
      </p:sp>
      <p:sp>
        <p:nvSpPr>
          <p:cNvPr id="1021543870" name="Текст 3"/>
          <p:cNvSpPr>
            <a:spLocks noGrp="1" noEditPoints="1"/>
          </p:cNvSpPr>
          <p:nvPr>
            <p:ph type="body" sz="quarter" idx="31"/>
          </p:nvPr>
        </p:nvSpPr>
        <p:spPr bwMode="auto">
          <a:xfrm>
            <a:off x="4569890" y="3264544"/>
            <a:ext cx="3264113" cy="306324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0053"/>
                </a:solidFill>
              </a:rPr>
              <a:t>Модель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YOLO11</a:t>
            </a:r>
            <a:r>
              <a:rPr lang="en-US" sz="1200" b="0">
                <a:solidFill>
                  <a:srgbClr val="1C1D22"/>
                </a:solidFill>
              </a:rPr>
              <a:t>x</a:t>
            </a:r>
            <a:r>
              <a:rPr sz="1200" b="0">
                <a:solidFill>
                  <a:srgbClr val="1C1D22"/>
                </a:solidFill>
              </a:rPr>
              <a:t>-seg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Вход 640×640, предобучение включено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Для каждого объекта — класс, рамка и маска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Порог уверенности ≈ 0.32 (максимум F1)</a:t>
            </a:r>
          </a:p>
        </p:txBody>
      </p:sp>
      <p:sp>
        <p:nvSpPr>
          <p:cNvPr id="1109396534" name="Текст 4"/>
          <p:cNvSpPr>
            <a:spLocks noGrp="1" noEditPoints="1"/>
          </p:cNvSpPr>
          <p:nvPr>
            <p:ph type="body" sz="quarter" idx="32"/>
          </p:nvPr>
        </p:nvSpPr>
        <p:spPr bwMode="auto">
          <a:xfrm>
            <a:off x="8405081" y="3277471"/>
            <a:ext cx="3264113" cy="306324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0053"/>
                </a:solidFill>
              </a:rPr>
              <a:t>Обучение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500 эпох, batch 8, оптимизатор AdamW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C1D22"/>
                </a:solidFill>
              </a:rPr>
              <a:t>Аугментации: mosaic, copy-paste, поворот, HSV</a:t>
            </a: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lnTo>
                    <a:pt x="9574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lnTo>
                    <a:pt x="5335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lnTo>
                    <a:pt x="6073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lnTo>
                    <a:pt x="6859" y="8526"/>
                  </a:ln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lnTo>
                    <a:pt x="549" y="1"/>
                  </a:ln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lnTo>
                    <a:pt x="8216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lnTo>
                    <a:pt x="8788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lnTo>
                    <a:pt x="358" y="0"/>
                  </a:ln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lnTo>
                    <a:pt x="143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lnTo>
                    <a:pt x="4692" y="2668"/>
                  </a:ln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 noEditPoints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</a:rPr>
              <a:t>ОБУЧЕНИЕ МОДЕЛИ</a:t>
            </a:r>
            <a:endParaRPr lang="ru-RU"/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4299941" name="Номер слайда 20"/>
          <p:cNvSpPr>
            <a:spLocks noGrp="1" noEditPoints="1"/>
          </p:cNvSpPr>
          <p:nvPr>
            <p:ph type="sldNum" sz="quarter" idx="4"/>
          </p:nvPr>
        </p:nvSpPr>
        <p:spPr bwMode="auto"/>
        <p:txBody>
          <a:bodyPr/>
          <a:lstStyle/>
          <a:p>
            <a:fld id="{52DCC5B9-D646-4B76-891F-6FF4E74E9CB4}" type="slidenum">
              <a:rPr lang="ru-RU">
                <a:solidFill>
                  <a:schemeClr val="bg1"/>
                </a:solidFill>
              </a:rPr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 noEditPoints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</a:rPr>
              <a:t>ДИНАМИКА ОБУЧЕНИЯ</a:t>
            </a:r>
            <a:endParaRPr lang="ru-RU" sz="3600">
              <a:solidFill>
                <a:schemeClr val="bg1"/>
              </a:solidFill>
            </a:endParaRPr>
          </a:p>
        </p:txBody>
      </p:sp>
      <p:pic>
        <p:nvPicPr>
          <p:cNvPr id="2041726419" name="Picture 2041726418" descr="result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792" y="1554480"/>
            <a:ext cx="10789920" cy="3236976"/>
          </a:xfrm>
          <a:prstGeom prst="rect">
            <a:avLst/>
          </a:prstGeom>
        </p:spPr>
      </p:pic>
      <p:sp>
        <p:nvSpPr>
          <p:cNvPr id="2041726420" name="TextBox 2041726419"/>
          <p:cNvSpPr txBox="1"/>
          <p:nvPr/>
        </p:nvSpPr>
        <p:spPr>
          <a:xfrm>
            <a:off x="621792" y="4937760"/>
            <a:ext cx="107899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D22"/>
                </a:solidFill>
              </a:rPr>
              <a:t>Обучение: потери на train монотонно снижаются все 500 эпох (box ≈ 3.9 → 1.0, cls ≈ 15 → 2.4).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D22"/>
                </a:solidFill>
              </a:rPr>
              <a:t>Валидация: mAP растёт до ~350–480 эпохи и выходит на плато; val-потери перестают падать примерно после 100–150 эпохи — признак переобучения на небольшом датасете.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4743505" y="1548743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7718044" y="1548743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1801156" y="1548743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 noEditPoints="1"/>
          </p:cNvSpPr>
          <p:nvPr>
            <p:ph type="sldNum" sz="quarter" idx="4"/>
          </p:nvPr>
        </p:nvSpPr>
        <p:spPr bwMode="auto"/>
        <p:txBody>
          <a:bodyPr/>
          <a:lstStyle/>
          <a:p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 noEditPoints="1"/>
          </p:cNvSpPr>
          <p:nvPr>
            <p:ph type="body" sz="quarter" idx="37"/>
          </p:nvPr>
        </p:nvSpPr>
        <p:spPr bwMode="auto">
          <a:xfrm>
            <a:off x="1975993" y="2175577"/>
            <a:ext cx="2286000" cy="77724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4000" b="1">
                <a:solidFill>
                  <a:srgbClr val="310F53"/>
                </a:solidFill>
              </a:rPr>
              <a:t>0.349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 noEditPoints="1"/>
          </p:cNvSpPr>
          <p:nvPr>
            <p:ph type="body" sz="quarter" idx="38"/>
          </p:nvPr>
        </p:nvSpPr>
        <p:spPr bwMode="auto">
          <a:xfrm>
            <a:off x="1975993" y="3089977"/>
            <a:ext cx="2286000" cy="2834640"/>
          </a:xfrm>
        </p:spPr>
        <p:txBody>
          <a:bodyPr wrap="square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300" b="1">
                <a:solidFill>
                  <a:srgbClr val="310F53"/>
                </a:solidFill>
              </a:rPr>
              <a:t>mAP@0.5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Лучшая эпоха: 0.36 (эпоха 357)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mAP@0.5:0.95 — до 0.20</a:t>
            </a:r>
          </a:p>
        </p:txBody>
      </p:sp>
      <p:sp>
        <p:nvSpPr>
          <p:cNvPr id="1364861697" name="Текст 3"/>
          <p:cNvSpPr>
            <a:spLocks noGrp="1" noEditPoints="1"/>
          </p:cNvSpPr>
          <p:nvPr>
            <p:ph type="body" sz="quarter" idx="39"/>
          </p:nvPr>
        </p:nvSpPr>
        <p:spPr bwMode="auto">
          <a:xfrm>
            <a:off x="4912983" y="2175577"/>
            <a:ext cx="2286000" cy="77724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4000" b="1">
                <a:solidFill>
                  <a:srgbClr val="310F53"/>
                </a:solidFill>
              </a:rPr>
              <a:t>0.324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 noEditPoints="1"/>
          </p:cNvSpPr>
          <p:nvPr>
            <p:ph type="body" sz="quarter" idx="40"/>
          </p:nvPr>
        </p:nvSpPr>
        <p:spPr bwMode="auto">
          <a:xfrm>
            <a:off x="4912983" y="3089977"/>
            <a:ext cx="2286000" cy="2834640"/>
          </a:xfrm>
        </p:spPr>
        <p:txBody>
          <a:bodyPr wrap="square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300" b="1">
                <a:solidFill>
                  <a:srgbClr val="310F53"/>
                </a:solidFill>
              </a:rPr>
              <a:t>mAP@0.5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Лучшая эпоха: 0.34 (эпоха 425)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mAP@0.5:0.95 — до 0.16</a:t>
            </a:r>
          </a:p>
        </p:txBody>
      </p:sp>
      <p:sp>
        <p:nvSpPr>
          <p:cNvPr id="1769023508" name="Текст 5"/>
          <p:cNvSpPr>
            <a:spLocks noGrp="1" noEditPoints="1"/>
          </p:cNvSpPr>
          <p:nvPr>
            <p:ph type="body" sz="quarter" idx="41"/>
          </p:nvPr>
        </p:nvSpPr>
        <p:spPr bwMode="auto">
          <a:xfrm>
            <a:off x="7911443" y="2175577"/>
            <a:ext cx="2286000" cy="77724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4000" b="1">
                <a:solidFill>
                  <a:srgbClr val="310F53"/>
                </a:solidFill>
              </a:rPr>
              <a:t>0.38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 noEditPoints="1"/>
          </p:cNvSpPr>
          <p:nvPr>
            <p:ph type="body" sz="quarter" idx="42"/>
          </p:nvPr>
        </p:nvSpPr>
        <p:spPr bwMode="auto">
          <a:xfrm>
            <a:off x="7911443" y="3089977"/>
            <a:ext cx="2286000" cy="2834640"/>
          </a:xfrm>
        </p:spPr>
        <p:txBody>
          <a:bodyPr wrap="square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300" b="1">
                <a:solidFill>
                  <a:srgbClr val="310F53"/>
                </a:solidFill>
              </a:rPr>
              <a:t>при confidence 0.32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Боксы: 0.38, маски: 0.37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C1D22"/>
                </a:solidFill>
              </a:rPr>
              <a:t>Оптимальный порог одинаков</a:t>
            </a:r>
          </a:p>
        </p:txBody>
      </p:sp>
      <p:sp>
        <p:nvSpPr>
          <p:cNvPr id="1261465021" name="Заголовок 13"/>
          <p:cNvSpPr>
            <a:spLocks noGrp="1" noEditPoints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</a:rPr>
              <a:t>РЕЗУЛЬТАТЫ</a:t>
            </a:r>
            <a:endParaRPr lang="ru-RU"/>
          </a:p>
        </p:txBody>
      </p:sp>
      <p:sp>
        <p:nvSpPr>
          <p:cNvPr id="553633505" name="Текст 14"/>
          <p:cNvSpPr>
            <a:spLocks noGrp="1" noEditPoints="1"/>
          </p:cNvSpPr>
          <p:nvPr>
            <p:ph type="body" sz="quarter" idx="49"/>
          </p:nvPr>
        </p:nvSpPr>
        <p:spPr bwMode="auto">
          <a:xfrm>
            <a:off x="1975993" y="1764097"/>
            <a:ext cx="2377440" cy="36576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0053"/>
                </a:solidFill>
              </a:rPr>
              <a:t>БОКСЫ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 noEditPoints="1"/>
          </p:cNvSpPr>
          <p:nvPr>
            <p:ph type="body" sz="quarter" idx="50"/>
          </p:nvPr>
        </p:nvSpPr>
        <p:spPr bwMode="auto">
          <a:xfrm>
            <a:off x="4905024" y="1764097"/>
            <a:ext cx="2377440" cy="36576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0053"/>
                </a:solidFill>
              </a:rPr>
              <a:t>МАСКИ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 noEditPoints="1"/>
          </p:cNvSpPr>
          <p:nvPr>
            <p:ph type="body" sz="quarter" idx="51"/>
          </p:nvPr>
        </p:nvSpPr>
        <p:spPr bwMode="auto">
          <a:xfrm>
            <a:off x="7911443" y="1764097"/>
            <a:ext cx="2377440" cy="36576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0053"/>
                </a:solidFill>
              </a:rPr>
              <a:t>F1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43891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 noEditPoints="1"/>
          </p:cNvSpPr>
          <p:nvPr>
            <p:ph type="sldNum" sz="quarter" idx="4"/>
          </p:nvPr>
        </p:nvSpPr>
        <p:spPr bwMode="auto"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620297821" name="Заголовок 13"/>
          <p:cNvSpPr>
            <a:spLocks noGrp="1" noEditPoints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lang="ru-RU" sz="2000" b="1">
                <a:solidFill>
                  <a:srgbClr val="FFFFFF"/>
                </a:solidFill>
              </a:rPr>
              <a:t>ГРАФИКИ КАЧЕСТВА</a:t>
            </a:r>
            <a:endParaRPr lang="ru-RU"/>
          </a:p>
        </p:txBody>
      </p:sp>
      <p:pic>
        <p:nvPicPr>
          <p:cNvPr id="1620297822" name="Picture 1620297821" descr="BoxPR_curv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7472" y="1371600"/>
            <a:ext cx="5577840" cy="3718560"/>
          </a:xfrm>
          <a:prstGeom prst="rect">
            <a:avLst/>
          </a:prstGeom>
        </p:spPr>
      </p:pic>
      <p:pic>
        <p:nvPicPr>
          <p:cNvPr id="1620297823" name="Picture 1620297822" descr="MaskPR_curv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63640" y="1371600"/>
            <a:ext cx="5577840" cy="3718560"/>
          </a:xfrm>
          <a:prstGeom prst="rect">
            <a:avLst/>
          </a:prstGeom>
        </p:spPr>
      </p:pic>
      <p:sp>
        <p:nvSpPr>
          <p:cNvPr id="1620297824" name="TextBox 1620297823"/>
          <p:cNvSpPr txBox="1"/>
          <p:nvPr/>
        </p:nvSpPr>
        <p:spPr>
          <a:xfrm>
            <a:off x="347472" y="5212080"/>
            <a:ext cx="557784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</a:rPr>
              <a:t>Детекция (боксы): mAP@0.5 = 0.349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1C1D22"/>
              </a:solidFill>
            </a:endParaRPr>
          </a:p>
        </p:txBody>
      </p:sp>
      <p:sp>
        <p:nvSpPr>
          <p:cNvPr id="1620297825" name="TextBox 1620297824"/>
          <p:cNvSpPr txBox="1"/>
          <p:nvPr/>
        </p:nvSpPr>
        <p:spPr>
          <a:xfrm>
            <a:off x="6263640" y="5212080"/>
            <a:ext cx="557784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10F53"/>
                </a:solidFill>
              </a:rPr>
              <a:t>Сегментация (маски): mAP@0.5 = 0.324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1C1D2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 noEditPoints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310F53"/>
                </a:solidFill>
              </a:rPr>
              <a:t>ВЫВОДЫ И СЛОЖНОСТИ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 noEditPoints="1"/>
          </p:cNvSpPr>
          <p:nvPr>
            <p:ph type="body" sz="quarter" idx="15"/>
          </p:nvPr>
        </p:nvSpPr>
        <p:spPr bwMode="auto">
          <a:xfrm>
            <a:off x="521207" y="1695025"/>
            <a:ext cx="11155680" cy="713232"/>
          </a:xfrm>
        </p:spPr>
        <p:txBody>
          <a:bodyPr wrap="square" anchor="ctr">
            <a:no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Мало данных и дисбаланс: 459 объектов, от 177 (экскаватор) до 18 (каток)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 noEditPoints="1"/>
          </p:cNvSpPr>
          <p:nvPr>
            <p:ph type="body" sz="quarter" idx="16"/>
          </p:nvPr>
        </p:nvSpPr>
        <p:spPr bwMode="auto">
          <a:xfrm>
            <a:off x="521207" y="2552035"/>
            <a:ext cx="11155680" cy="713232"/>
          </a:xfrm>
        </p:spPr>
        <p:txBody>
          <a:bodyPr wrap="square" anchor="ctr">
            <a:no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Переобучение: </a:t>
            </a:r>
            <a:r>
              <a:rPr lang="ru-RU" sz="1400" b="0">
                <a:solidFill>
                  <a:srgbClr val="1C1D22"/>
                </a:solidFill>
              </a:rPr>
              <a:t>метрики начинают выдавать шум при </a:t>
            </a:r>
            <a:r>
              <a:rPr sz="1400" b="0">
                <a:solidFill>
                  <a:srgbClr val="1C1D22"/>
                </a:solidFill>
              </a:rPr>
              <a:t>малой валидации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 noEditPoints="1"/>
          </p:cNvSpPr>
          <p:nvPr>
            <p:ph type="body" sz="quarter" idx="17"/>
          </p:nvPr>
        </p:nvSpPr>
        <p:spPr bwMode="auto">
          <a:xfrm>
            <a:off x="521207" y="3409044"/>
            <a:ext cx="11155680" cy="713232"/>
          </a:xfrm>
        </p:spPr>
        <p:txBody>
          <a:bodyPr wrap="square" anchor="ctr">
            <a:no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Мелкие и редкие объекты: бульдозер не найден ни разу, малые краны и экскаваторы часто пропускаются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 noEditPoints="1"/>
          </p:cNvSpPr>
          <p:nvPr>
            <p:ph type="body" sz="quarter" idx="18"/>
          </p:nvPr>
        </p:nvSpPr>
        <p:spPr bwMode="auto">
          <a:xfrm>
            <a:off x="521207" y="4266053"/>
            <a:ext cx="11155680" cy="713232"/>
          </a:xfrm>
        </p:spPr>
        <p:txBody>
          <a:bodyPr wrap="square" anchor="ctr">
            <a:no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Стабильная сходимость: AdamW, косинусный lr и аугментации (mosaic, copy-paste) — train-потери падают все 500 эпох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 noEditPoints="1"/>
          </p:cNvSpPr>
          <p:nvPr>
            <p:ph type="body" sz="quarter" idx="19"/>
          </p:nvPr>
        </p:nvSpPr>
        <p:spPr bwMode="auto">
          <a:xfrm>
            <a:off x="521207" y="5123063"/>
            <a:ext cx="11155680" cy="713232"/>
          </a:xfrm>
        </p:spPr>
        <p:txBody>
          <a:bodyPr wrap="square" anchor="ctr">
            <a:no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C1D22"/>
                </a:solidFill>
              </a:rPr>
              <a:t>Итог: mAP@0.5 0.35 по боксам, 0.32 по маскам; для качества нужно больше данных по редким классам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 noEditPoints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438912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 noEditPoints="1"/>
          </p:cNvSpPr>
          <p:nvPr>
            <p:ph type="sldNum" sz="quarter" idx="4"/>
          </p:nvPr>
        </p:nvSpPr>
        <p:spPr bwMode="auto"/>
        <p:txBody>
          <a:bodyPr/>
          <a:lstStyle/>
          <a:p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346075" y="1453896"/>
            <a:ext cx="2523744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10F53"/>
                </a:solidFill>
              </a:rPr>
              <a:t>Больше данных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346075" y="1828800"/>
            <a:ext cx="2523744" cy="109728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Доразметить бульдозеры, катки, бетономешалки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4832960" y="1453896"/>
            <a:ext cx="2523744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10F53"/>
                </a:solidFill>
              </a:rPr>
              <a:t>Размер модели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4832960" y="1828800"/>
            <a:ext cx="2523744" cy="109728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Сравнить YOLO11-seg разных размеров и разрешение 960–1280 для мелких объектов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9330862" y="1453896"/>
            <a:ext cx="2523744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10F53"/>
                </a:solidFill>
              </a:rPr>
              <a:t>Внедрение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9330862" y="1828800"/>
            <a:ext cx="2523744" cy="109728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lang="ru-RU" sz="1200" b="0">
                <a:solidFill>
                  <a:srgbClr val="1C1D22"/>
                </a:solidFill>
              </a:rPr>
              <a:t>З</a:t>
            </a:r>
            <a:r>
              <a:rPr sz="1200" b="0">
                <a:solidFill>
                  <a:srgbClr val="1C1D22"/>
                </a:solidFill>
              </a:rPr>
              <a:t>апуск на камерах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2593517" y="4828032"/>
            <a:ext cx="2523744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10F53"/>
                </a:solidFill>
              </a:rPr>
              <a:t>Баланс классов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2593517" y="5193792"/>
            <a:ext cx="2523744" cy="109728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Oversampling редких классов, взвешенные потери, расширенная валидация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7080402" y="4828032"/>
            <a:ext cx="2523744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10F53"/>
                </a:solidFill>
              </a:rPr>
              <a:t>Трекинг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 noEditPoints="1"/>
          </p:cNvSpPr>
          <p:nvPr>
            <p:ph type="body" sz="quarter" idx="4294967295"/>
          </p:nvPr>
        </p:nvSpPr>
        <p:spPr bwMode="auto">
          <a:xfrm>
            <a:off x="7080402" y="5193792"/>
            <a:ext cx="2523744" cy="1097280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D22"/>
                </a:solidFill>
              </a:rPr>
              <a:t>Подключить BoT-SORT для подсчёта техники и учёта времени работы на площадке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/>
              <a:t>1</a:t>
            </a:r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/>
              <a:t>2</a:t>
            </a:r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/>
              <a:t>3</a:t>
            </a:r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/>
              <a:t>4</a:t>
            </a:r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/>
              <a:t>5</a:t>
            </a:r>
          </a:p>
        </p:txBody>
      </p:sp>
      <p:sp>
        <p:nvSpPr>
          <p:cNvPr id="1475492823" name="Заголовок 13"/>
          <p:cNvSpPr>
            <a:spLocks noGrp="1" noEditPoints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</a:rPr>
              <a:t>ПЛАН РАЗВИТИЯ</a:t>
            </a:r>
            <a:endParaRPr lang="ru-RU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590</Words>
  <Application>Microsoft Office PowerPoint</Application>
  <PresentationFormat>Широкоэкранный</PresentationFormat>
  <Paragraphs>117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TTFirs</vt:lpstr>
      <vt:lpstr>Wingdings</vt:lpstr>
      <vt:lpstr>Для Академия инноваторов 16_9</vt:lpstr>
      <vt:lpstr>Презентация PowerPoint</vt:lpstr>
      <vt:lpstr>Disordered Rats</vt:lpstr>
      <vt:lpstr>Команда “Disordered Rats”</vt:lpstr>
      <vt:lpstr>Команда “Disordered Rats”</vt:lpstr>
      <vt:lpstr>Презентация PowerPoint</vt:lpstr>
      <vt:lpstr>ОБУЧЕНИЕ МОДЕЛИ</vt:lpstr>
      <vt:lpstr>ДИНАМИКА ОБУЧЕНИЯ</vt:lpstr>
      <vt:lpstr>РЕЗУЛЬТАТЫ</vt:lpstr>
      <vt:lpstr>ГРАФИКИ КАЧЕСТВА</vt:lpstr>
      <vt:lpstr>ВЫВОДЫ И СЛОЖНОСТИ</vt:lpstr>
      <vt:lpstr>ПЛАН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Тимур Вострокнутов</cp:lastModifiedBy>
  <cp:revision>100</cp:revision>
  <dcterms:created xsi:type="dcterms:W3CDTF">2023-05-15T07:36:23Z</dcterms:created>
  <dcterms:modified xsi:type="dcterms:W3CDTF">2026-09-29T20:49:12Z</dcterms:modified>
</cp:coreProperties>
</file>